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ee073219324a7a" /><Relationship Type="http://schemas.openxmlformats.org/officeDocument/2006/relationships/extended-properties" Target="/docProps/app.xml" Id="R5b60dd8040074a0a" /><Relationship Type="http://schemas.openxmlformats.org/officeDocument/2006/relationships/officeDocument" Target="/ppt/presentation.xml" Id="R93c4b25d83f8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dae7996794054"/>
  </p:sldMasterIdLst>
  <p:notesMasterIdLst>
    <p:notesMasterId xmlns:r="http://schemas.openxmlformats.org/officeDocument/2006/relationships" r:id="Rb705418da55d4cef"/>
  </p:notesMasterIdLst>
  <p:sldIdLst>
    <p:sldId xmlns:r="http://schemas.openxmlformats.org/officeDocument/2006/relationships" id="256" r:id="Rbece145f0eb44c0b"/>
    <p:sldId xmlns:r="http://schemas.openxmlformats.org/officeDocument/2006/relationships" id="257" r:id="R0f7412d8c7854183"/>
    <p:sldId xmlns:r="http://schemas.openxmlformats.org/officeDocument/2006/relationships" id="258" r:id="R74c6262c95254f93"/>
    <p:sldId xmlns:r="http://schemas.openxmlformats.org/officeDocument/2006/relationships" id="259" r:id="R0be6069c326c4f07"/>
    <p:sldId xmlns:r="http://schemas.openxmlformats.org/officeDocument/2006/relationships" id="260" r:id="R6d296426cb914ff0"/>
    <p:sldId xmlns:r="http://schemas.openxmlformats.org/officeDocument/2006/relationships" id="261" r:id="R054141df3b7f47f7"/>
    <p:sldId xmlns:r="http://schemas.openxmlformats.org/officeDocument/2006/relationships" id="262" r:id="Rcdcc08e2fe124072"/>
    <p:sldId xmlns:r="http://schemas.openxmlformats.org/officeDocument/2006/relationships" id="263" r:id="Rfd0b9efb53fd4ea2"/>
    <p:sldId xmlns:r="http://schemas.openxmlformats.org/officeDocument/2006/relationships" id="264" r:id="R2bb5e7f2b07243f6"/>
    <p:sldId xmlns:r="http://schemas.openxmlformats.org/officeDocument/2006/relationships" id="265" r:id="R4d086d50cfa6432e"/>
    <p:sldId xmlns:r="http://schemas.openxmlformats.org/officeDocument/2006/relationships" id="266" r:id="Rd55584b3cb79409b"/>
    <p:sldId xmlns:r="http://schemas.openxmlformats.org/officeDocument/2006/relationships" id="267" r:id="R6dc9a462aa2e4922"/>
    <p:sldId xmlns:r="http://schemas.openxmlformats.org/officeDocument/2006/relationships" id="268" r:id="Rfcfc5ab1b9154f62"/>
    <p:sldId xmlns:r="http://schemas.openxmlformats.org/officeDocument/2006/relationships" id="269" r:id="Rfe22972f00b2402d"/>
    <p:sldId xmlns:r="http://schemas.openxmlformats.org/officeDocument/2006/relationships" id="270" r:id="Ree41e1a48bab4bc1"/>
    <p:sldId xmlns:r="http://schemas.openxmlformats.org/officeDocument/2006/relationships" id="271" r:id="Rd2fcc253c65544a5"/>
    <p:sldId xmlns:r="http://schemas.openxmlformats.org/officeDocument/2006/relationships" id="272" r:id="Ra337efbacb1e43b2"/>
    <p:sldId xmlns:r="http://schemas.openxmlformats.org/officeDocument/2006/relationships" id="273" r:id="R1312c3015d524b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f4230cca37429c" /><Relationship Type="http://schemas.openxmlformats.org/officeDocument/2006/relationships/slideMaster" Target="/ppt/slideMasters/slideMaster1.xml" Id="R7f4dae7996794054" /><Relationship Type="http://schemas.openxmlformats.org/officeDocument/2006/relationships/notesMaster" Target="/ppt/notesMasters/notesMaster1.xml" Id="Rb705418da55d4cef" /><Relationship Type="http://schemas.openxmlformats.org/officeDocument/2006/relationships/presProps" Target="/ppt/presProps.xml" Id="R9698131878b84ce7" /><Relationship Type="http://schemas.openxmlformats.org/officeDocument/2006/relationships/tableStyles" Target="/ppt/tableStyles.xml" Id="R21c9f9d17fd74c8f" /><Relationship Type="http://schemas.openxmlformats.org/officeDocument/2006/relationships/slide" Target="/ppt/slides/slide1.xml" Id="Rbece145f0eb44c0b" /><Relationship Type="http://schemas.openxmlformats.org/officeDocument/2006/relationships/slide" Target="/ppt/slides/slide2.xml" Id="R0f7412d8c7854183" /><Relationship Type="http://schemas.openxmlformats.org/officeDocument/2006/relationships/slide" Target="/ppt/slides/slide3.xml" Id="R74c6262c95254f93" /><Relationship Type="http://schemas.openxmlformats.org/officeDocument/2006/relationships/slide" Target="/ppt/slides/slide4.xml" Id="R0be6069c326c4f07" /><Relationship Type="http://schemas.openxmlformats.org/officeDocument/2006/relationships/slide" Target="/ppt/slides/slide5.xml" Id="R6d296426cb914ff0" /><Relationship Type="http://schemas.openxmlformats.org/officeDocument/2006/relationships/slide" Target="/ppt/slides/slide6.xml" Id="R054141df3b7f47f7" /><Relationship Type="http://schemas.openxmlformats.org/officeDocument/2006/relationships/slide" Target="/ppt/slides/slide7.xml" Id="Rcdcc08e2fe124072" /><Relationship Type="http://schemas.openxmlformats.org/officeDocument/2006/relationships/slide" Target="/ppt/slides/slide8.xml" Id="Rfd0b9efb53fd4ea2" /><Relationship Type="http://schemas.openxmlformats.org/officeDocument/2006/relationships/slide" Target="/ppt/slides/slide9.xml" Id="R2bb5e7f2b07243f6" /><Relationship Type="http://schemas.openxmlformats.org/officeDocument/2006/relationships/slide" Target="/ppt/slides/slide10.xml" Id="R4d086d50cfa6432e" /><Relationship Type="http://schemas.openxmlformats.org/officeDocument/2006/relationships/slide" Target="/ppt/slides/slide11.xml" Id="Rd55584b3cb79409b" /><Relationship Type="http://schemas.openxmlformats.org/officeDocument/2006/relationships/slide" Target="/ppt/slides/slide12.xml" Id="R6dc9a462aa2e4922" /><Relationship Type="http://schemas.openxmlformats.org/officeDocument/2006/relationships/slide" Target="/ppt/slides/slide13.xml" Id="Rfcfc5ab1b9154f62" /><Relationship Type="http://schemas.openxmlformats.org/officeDocument/2006/relationships/slide" Target="/ppt/slides/slide14.xml" Id="Rfe22972f00b2402d" /><Relationship Type="http://schemas.openxmlformats.org/officeDocument/2006/relationships/slide" Target="/ppt/slides/slide15.xml" Id="Ree41e1a48bab4bc1" /><Relationship Type="http://schemas.openxmlformats.org/officeDocument/2006/relationships/slide" Target="/ppt/slides/slide16.xml" Id="Rd2fcc253c65544a5" /><Relationship Type="http://schemas.openxmlformats.org/officeDocument/2006/relationships/slide" Target="/ppt/slides/slide17.xml" Id="Ra337efbacb1e43b2" /><Relationship Type="http://schemas.openxmlformats.org/officeDocument/2006/relationships/slide" Target="/ppt/slides/slide18.xml" Id="R1312c3015d52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d56e217a2847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8821d402cc4883" /><Relationship Type="http://schemas.openxmlformats.org/officeDocument/2006/relationships/notesMaster" Target="/ppt/notesMasters/notesMaster1.xml" Id="R3e8f03fed4e14c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3e3a109df94156" /><Relationship Type="http://schemas.openxmlformats.org/officeDocument/2006/relationships/notesMaster" Target="/ppt/notesMasters/notesMaster1.xml" Id="R34208d4c8b554f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0530e993654947" /><Relationship Type="http://schemas.openxmlformats.org/officeDocument/2006/relationships/notesMaster" Target="/ppt/notesMasters/notesMaster1.xml" Id="R4944533dd2c44a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d3d986044646cf" /><Relationship Type="http://schemas.openxmlformats.org/officeDocument/2006/relationships/notesMaster" Target="/ppt/notesMasters/notesMaster1.xml" Id="R169df457a25a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518506ed434f23" /><Relationship Type="http://schemas.openxmlformats.org/officeDocument/2006/relationships/notesMaster" Target="/ppt/notesMasters/notesMaster1.xml" Id="R6cedff4eaab9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15c8b6530c4eb6" /><Relationship Type="http://schemas.openxmlformats.org/officeDocument/2006/relationships/notesMaster" Target="/ppt/notesMasters/notesMaster1.xml" Id="R6d0cf8823b0549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3cf65213e46cb" /><Relationship Type="http://schemas.openxmlformats.org/officeDocument/2006/relationships/notesMaster" Target="/ppt/notesMasters/notesMaster1.xml" Id="R9c6841942af148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953275eece4aee" /><Relationship Type="http://schemas.openxmlformats.org/officeDocument/2006/relationships/notesMaster" Target="/ppt/notesMasters/notesMaster1.xml" Id="R85dfeb0ceea349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d51cc1e5ad4295" /><Relationship Type="http://schemas.openxmlformats.org/officeDocument/2006/relationships/notesMaster" Target="/ppt/notesMasters/notesMaster1.xml" Id="R88ce0aa9186042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2c0cd1fb544e76" /><Relationship Type="http://schemas.openxmlformats.org/officeDocument/2006/relationships/notesMaster" Target="/ppt/notesMasters/notesMaster1.xml" Id="R79388dd33d4544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6b44b8594e4575" /><Relationship Type="http://schemas.openxmlformats.org/officeDocument/2006/relationships/notesMaster" Target="/ppt/notesMasters/notesMaster1.xml" Id="R1a4cac720bbb40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1b582da90c4af2" /><Relationship Type="http://schemas.openxmlformats.org/officeDocument/2006/relationships/notesMaster" Target="/ppt/notesMasters/notesMaster1.xml" Id="Rddedefd405814e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6d86990b0f41fa" /><Relationship Type="http://schemas.openxmlformats.org/officeDocument/2006/relationships/notesMaster" Target="/ppt/notesMasters/notesMaster1.xml" Id="Rb74fc036e6a548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4b70993f1349a3" /><Relationship Type="http://schemas.openxmlformats.org/officeDocument/2006/relationships/notesMaster" Target="/ppt/notesMasters/notesMaster1.xml" Id="Rbf5b73d55e0d49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19a60a33fe417f" /><Relationship Type="http://schemas.openxmlformats.org/officeDocument/2006/relationships/notesMaster" Target="/ppt/notesMasters/notesMaster1.xml" Id="Rb12e9006e07a44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17d45df1464481" /><Relationship Type="http://schemas.openxmlformats.org/officeDocument/2006/relationships/notesMaster" Target="/ppt/notesMasters/notesMaster1.xml" Id="R98465683fd2246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11e465814b44e8" /><Relationship Type="http://schemas.openxmlformats.org/officeDocument/2006/relationships/notesMaster" Target="/ppt/notesMasters/notesMaster1.xml" Id="R1bd812e10d4644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cbfd04a27e4f39" /><Relationship Type="http://schemas.openxmlformats.org/officeDocument/2006/relationships/notesMaster" Target="/ppt/notesMasters/notesMaster1.xml" Id="Redc90a15b7dd4e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建议开场 20 秒。我们围绕城市低空航路规划和动态协同构建可运行系统。本次重点回答算法如何选路、如何发现冲突、如何在扰动后保持飞行连续性。团队信息沿用项目原交付材料。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35 秒。将建筑、航点和航路抽象为可计算环境。场景使用米制 ENU 坐标，运行演示为无人机任务。城市规划层面的廊道配置和节点容量是系统输入，当前并未求解全市设施选址最优布局。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项目依据：README.md；simulation/environment/route_network.py。数据版本：2026-10-20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秒。算法读取一致环境快照，先规划，后预测，再解脱，最后实际推进并反馈。环境版本和决策前后计划随事件记录，能够解释本次决策的依据。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项目依据：algorithms/；simulation/engine/；simulation/events/。数据版本：2026-10-20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秒。L 和 H 均用千米尺度，H 只计正爬升。五项权重默认 1、2、1.5、0.8、3。这里的加权指边成本，启发函数没有额外放大系数。雷暴、障碍、关闭航路和满容量属于硬约束。能耗是几何代理量。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项目依据：docs/path-planning.md；algorithms/path_planning/astar.py。数据版本：2026-10-20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秒。h 为距离项下界。非负权重且边长至少为几何距离时，启发不高估，保证当前可行图上的加权目标最优。若风险等权重变动，要在新快照重新搜索。航程回退只保证可达，不保证资源约束下加权全局最优。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项目依据：algorithms/path_planning/astar.py；docs/path-planning.md。数据版本：2026-10-20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50 秒。构造算例：S=(100,100,120)，T=(1100,100,120)，D=(600,600,120)。直达风险为1，绕行风险为0，其余权重置0，距离权重为1。直达1公里，绕行根号2公里。风险权重大于根号2减1时应转向绕行。此算例说明算法符合目标，并非证明运输效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项目依据：本次运行 reports/algorithm.json；algorithm_evidence.py。数据版本：2026-10-20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65 秒。对重叠时间段写成相对运动。水平二次不等式与垂直线性不等式在同一时间同时成立才算冲突。区间求交可发现两个采样时刻之间的交叉。边界相切也按冲突处理。包围盒仅预筛，不替代精确计算。最坏情况下仍需成对检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项目依据：algorithms/conflict_detection/continuous.py；models.py；tests/test_conflicts.py。数据版本：2026-10-20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。候选包括三档调速、等待12秒、上下30米换层和禁用当前航段后重规划。每个候选先校验位置连续、建筑空域、能力和能耗，再与其他所有飞机预测轨迹检查。只在安全集合内排序。更改一架飞机的候选只复检与其有关的机对。预测窗外不作无限期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项目依据：simulation/engine/safety.py；algorithms/conflict_resolution/rules.py。数据版本：2026-10-20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45 秒。不能把在区域内的飞机瞬移到区域外。引擎从实际位置寻找可行短撤离段，到安全出口后接续 A*。如果后续任务暂不可达，先撤离并在安全出口等待。若连安全出口也不存在，则告警暂停该机。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项目依据：simulation/events/handlers.py；simulation/engine/planning.py。数据版本：2026-10-20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50 秒。剩余可飞距离按电池比例乘最大航程再乘故障折减。先筛选地面合法场坪、容量和粗略距离，再调用规划验证。对成功候选按实际规划剩余距离选最短可达点，预留容量，进入真实下降流程。单项场景UAV-021在124秒触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项目依据：algorithms/emergency/diversion.py；simulation/environment/ground.py；reports/failure.json。数据版本：2026-10-20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建议播放约40秒。关注目标UAV-002与UAV-006、粉色原计划与青色新计划、区域持续生效时的撤离状态。实际录制为3倍仿真时间。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项目依据：reports/weather-recording.json；项目浏览器真实录屏。数据版本：2026-10-20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建议播放约30秒。路线可能重合，应观察等待时长与速度变化。算法通过全机检查后选择延时让行，不需要为视觉效果更改路线。实际录制为3倍仿真时间。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项目依据：reports/conflict-recording.json；项目浏览器真实录屏。数据版本：2026-10-20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建议播放约40秒。关注目的地切换至EB-4、剩余航程和真实下降触地。计算决策耗时与飞到备降点的仿真时间是不同口径。实际录制为5倍仿真时间。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项目依据：reports/failure-recording.json；项目浏览器真实录屏。数据版本：2026-10-20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50 秒。固定种子42，100机，最多推进600步，实际在436秒停止。99个到达原目的地，1架完成备降。最终剩余冲突0，累计规则解脱4次。平均延误9.12秒没有对照基线，不能称下降多少百分比。本次setup约4.69秒，execution约7.12秒，依赖机器，不作普遍性能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项目依据：reports/full.json；scripts/run_demo_headless.py。数据版本：2026-10-20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五个场景分别24机，四向每向6架，种子42。拥堵影响1架并改航，雷暴和管制各6架改航，其中2架撤离。故障和冲突在结果后保留观察时间。停止时刻不同，不能直接比较完成任务数。结束剩余冲突0不等于对所有工况作安全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项目依据：reports/congestion.json、weather.json、closure.json、failure.json、conflict.json。数据版本：2026-10-20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55 秒。A*、解析冲突检测和规则法本身是成熟方法。本项目创新侧重场景化组合、约束一致性和可解释的运行闭环，尚无与先进方法相比的系统基准。300次随机图对照最大误差3.55e-15，覆盖静态非负权重代价，不覆盖所有几何天气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项目依据：README.md；docs/path-planning.md；reports/algorithm.json。数据版本：2026-10-20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落地从仿真规划工具开始，向具体城市数据校准和受控实验推进。区分现有软件与后续建议，当前没有设施选址优化、真实飞行接入、训练好的GNN或PPO模型。真实部署前需单独开展数据、性能、运行和适用要求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项目依据：README.md；docs/architecture.md；本方案建议。数据版本：2026-10-20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30秒结束，附常见问答。1.为何不用强化学习：当前选择可解释且可验证的传统策略，学习模型为后续可替换方向。2.是否全局最优：仅当前快照可行图上的加权目标，航程回退不保证加权最优。3.0冲突是否代表绝对安全：是本次仿真最终残余指标，依赖预测模型和阈值。4.如何证明创新：统一约束、连续执行和证据闭环，尚需强基线和多种子验证。5.视频是真实运行吗：浏览器实际录制，场景固定种子，时间倍率3或5，MP4实际嵌入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项目依据：docs/path-planning.md；algorithms/；本次运行报告。数据版本：2026-10-20 当前工作区。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18ce9e26c4b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1bebbe1d544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7aac1ca884a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20b4701f344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c3f6d4d054d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963a59e2f40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4EEDAA-3B88-456C-A212-FEDF47CA6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A6B433-9EBA-4A18-A915-B63B27F673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510F67-5547-4B74-83F4-821041D2D4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2AA72-22D0-413C-B731-DBB3CCC14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8E7416-1C21-4467-85CC-72B5230A8A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3BB16A-C4DE-4D05-A688-064676294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D0E73A-2115-4B22-A4A3-126A94E3BD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461CA8-5D43-4637-93AD-7B44BE8668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E93F6A-C679-48CD-808D-2CD718F79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DCF3CC-71E7-4821-B22D-2198D8CD93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6d32a88624a78" /><Relationship Type="http://schemas.openxmlformats.org/officeDocument/2006/relationships/slideLayout" Target="/ppt/slideLayouts/slideLayout1.xml" Id="Rbb23ea00ee744872" /><Relationship Type="http://schemas.openxmlformats.org/officeDocument/2006/relationships/slideLayout" Target="/ppt/slideLayouts/slideLayout2.xml" Id="Raff5e61681d14d20" /><Relationship Type="http://schemas.openxmlformats.org/officeDocument/2006/relationships/slideLayout" Target="/ppt/slideLayouts/slideLayout3.xml" Id="Rb46a686b14164dff" /><Relationship Type="http://schemas.openxmlformats.org/officeDocument/2006/relationships/slideLayout" Target="/ppt/slideLayouts/slideLayout4.xml" Id="Ra267c80a50224bf2" /><Relationship Type="http://schemas.openxmlformats.org/officeDocument/2006/relationships/slideLayout" Target="/ppt/slideLayouts/slideLayout5.xml" Id="Ra630b1f85de34355" /><Relationship Type="http://schemas.openxmlformats.org/officeDocument/2006/relationships/slideLayout" Target="/ppt/slideLayouts/slideLayout6.xml" Id="R5070e817083241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23ea00ee744872"/>
    <p:sldLayoutId xmlns:r="http://schemas.openxmlformats.org/officeDocument/2006/relationships" id="2147483650" r:id="Raff5e61681d14d20"/>
    <p:sldLayoutId xmlns:r="http://schemas.openxmlformats.org/officeDocument/2006/relationships" id="2147483651" r:id="Rb46a686b14164dff"/>
    <p:sldLayoutId xmlns:r="http://schemas.openxmlformats.org/officeDocument/2006/relationships" id="2147483652" r:id="Ra267c80a50224bf2"/>
    <p:sldLayoutId xmlns:r="http://schemas.openxmlformats.org/officeDocument/2006/relationships" id="2147483653" r:id="Ra630b1f85de34355"/>
    <p:sldLayoutId xmlns:r="http://schemas.openxmlformats.org/officeDocument/2006/relationships" id="2147483654" r:id="R5070e817083241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6edb3eade4de6" /><Relationship Type="http://schemas.openxmlformats.org/officeDocument/2006/relationships/notesSlide" Target="/ppt/notesSlides/notesSlide1.xml" Id="Rebc72d94c196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d54d583a345b8" /><Relationship Type="http://schemas.openxmlformats.org/officeDocument/2006/relationships/image" Target="/ppt/media/image.png" Id="R29d75a13f15c40e4" /><Relationship Type="http://schemas.openxmlformats.org/officeDocument/2006/relationships/notesSlide" Target="/ppt/notesSlides/notesSlide2.xml" Id="Rc17f8c7d010e43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551896bb5423d" /><Relationship Type="http://schemas.openxmlformats.org/officeDocument/2006/relationships/notesSlide" Target="/ppt/notesSlides/notesSlide3.xml" Id="R7c683ec56027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dc92b29514927" /><Relationship Type="http://schemas.openxmlformats.org/officeDocument/2006/relationships/notesSlide" Target="/ppt/notesSlides/notesSlide4.xml" Id="R80878e76c27842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14488cdf04c02" /><Relationship Type="http://schemas.openxmlformats.org/officeDocument/2006/relationships/notesSlide" Target="/ppt/notesSlides/notesSlide5.xml" Id="R492588913dac4e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58414ff00481f" /><Relationship Type="http://schemas.openxmlformats.org/officeDocument/2006/relationships/chart" Target="/ppt/slides/charts/chart1.xml" Id="Rff35b42b6d4743ba" /><Relationship Type="http://schemas.openxmlformats.org/officeDocument/2006/relationships/notesSlide" Target="/ppt/notesSlides/notesSlide6.xml" Id="Rd1670ed8856743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6a78678fb4854" /><Relationship Type="http://schemas.openxmlformats.org/officeDocument/2006/relationships/notesSlide" Target="/ppt/notesSlides/notesSlide7.xml" Id="Rd23dcb7c4f8a49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dd50346874fde" /><Relationship Type="http://schemas.openxmlformats.org/officeDocument/2006/relationships/notesSlide" Target="/ppt/notesSlides/notesSlide8.xml" Id="R63456ac758d646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5e6afe5ef406b" /><Relationship Type="http://schemas.openxmlformats.org/officeDocument/2006/relationships/image" Target="/ppt/media/image2.png" Id="R4a243769640f4aef" /><Relationship Type="http://schemas.openxmlformats.org/officeDocument/2006/relationships/notesSlide" Target="/ppt/notesSlides/notesSlide9.xml" Id="R3ac28e80254944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c627dc81b45af" /><Relationship Type="http://schemas.openxmlformats.org/officeDocument/2006/relationships/image" Target="/ppt/media/image3.png" Id="Rfbb3817ff4094f56" /><Relationship Type="http://schemas.openxmlformats.org/officeDocument/2006/relationships/notesSlide" Target="/ppt/notesSlides/notesSlide10.xml" Id="Re116e00b78364190" 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575ac4246454fcb"/><Relationship Type="http://schemas.openxmlformats.org/officeDocument/2006/relationships/image" Target="/ppt/media/image4.png" Id="Re13e3a4f0831484f"/><Relationship Type="http://schemas.openxmlformats.org/officeDocument/2006/relationships/notesSlide" Target="/ppt/notesSlides/notesSlide11.xml" Id="R258ca81326544ee7"/><Relationship Id="rIdEmbeddedVideo" Type="http://schemas.openxmlformats.org/officeDocument/2006/relationships/video" Target="../media/weather.mp4"/><Relationship Id="rIdEmbeddedMedia" Type="http://schemas.microsoft.com/office/2007/relationships/media" Target="../media/weather.mp4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fa1591a7cd142d9"/><Relationship Type="http://schemas.openxmlformats.org/officeDocument/2006/relationships/image" Target="/ppt/media/image5.png" Id="Reee2a73bde0f47e7"/><Relationship Type="http://schemas.openxmlformats.org/officeDocument/2006/relationships/notesSlide" Target="/ppt/notesSlides/notesSlide12.xml" Id="Rfa69614278574467"/><Relationship Id="rIdEmbeddedVideo" Type="http://schemas.openxmlformats.org/officeDocument/2006/relationships/video" Target="../media/conflict.mp4"/><Relationship Id="rIdEmbeddedMedia" Type="http://schemas.microsoft.com/office/2007/relationships/media" Target="../media/conflict.mp4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a4e6f0fb0da49ac"/><Relationship Type="http://schemas.openxmlformats.org/officeDocument/2006/relationships/image" Target="/ppt/media/image6.png" Id="R07fe21479b3b4b82"/><Relationship Type="http://schemas.openxmlformats.org/officeDocument/2006/relationships/notesSlide" Target="/ppt/notesSlides/notesSlide13.xml" Id="Raf6f55c4c6444ce8"/><Relationship Id="rIdEmbeddedVideo" Type="http://schemas.openxmlformats.org/officeDocument/2006/relationships/video" Target="../media/failure.mp4"/><Relationship Id="rIdEmbeddedMedia" Type="http://schemas.microsoft.com/office/2007/relationships/media" Target="../media/failure.mp4"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5d43f96ae94b5a" /><Relationship Type="http://schemas.openxmlformats.org/officeDocument/2006/relationships/chart" Target="/ppt/slides/charts/chart2.xml" Id="R500c1a88902b4ef5" /><Relationship Type="http://schemas.openxmlformats.org/officeDocument/2006/relationships/notesSlide" Target="/ppt/notesSlides/notesSlide14.xml" Id="Rb81c57cce65442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ac25eda0843d8" /><Relationship Type="http://schemas.openxmlformats.org/officeDocument/2006/relationships/notesSlide" Target="/ppt/notesSlides/notesSlide15.xml" Id="R336272696d3844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c7c699ecb483d" /><Relationship Type="http://schemas.openxmlformats.org/officeDocument/2006/relationships/notesSlide" Target="/ppt/notesSlides/notesSlide16.xml" Id="R1c93436e5ce54e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a8696497c4405" /><Relationship Type="http://schemas.openxmlformats.org/officeDocument/2006/relationships/notesSlide" Target="/ppt/notesSlides/notesSlide17.xml" Id="Rffc176b03a684e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a6f1b848141de" /><Relationship Type="http://schemas.openxmlformats.org/officeDocument/2006/relationships/notesSlide" Target="/ppt/notesSlides/notesSlide18.xml" Id="R26b16b07954247e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直达 S-T</c:v>
          </c:tx>
          <c:spPr>
            <a:ln xmlns:a="http://schemas.openxmlformats.org/drawingml/2006/main" w="28575">
              <a:solidFill>
                <a:srgbClr val="C17B41"/>
              </a:solidFill>
            </a:ln>
          </c:spP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1.2</c:v>
                </c:pt>
                <c:pt idx="2">
                  <c:v>1.5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</c:numCache>
            </c:numRef>
          </c:yVal>
        </c:ser>
        <c:ser>
          <c:idx val="1"/>
          <c:order val="1"/>
          <c:tx>
            <c:v>绕行 S-D-T</c:v>
          </c:tx>
          <c:spPr>
            <a:ln xmlns:a="http://schemas.openxmlformats.org/drawingml/2006/main" w="28575">
              <a:solidFill>
                <a:srgbClr val="008F89"/>
              </a:solidFill>
            </a:ln>
          </c:spPr>
          <c:xVal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1.414214</c:v>
                </c:pt>
                <c:pt idx="1">
                  <c:v>1.414214</c:v>
                </c:pt>
                <c:pt idx="2">
                  <c:v>1.414214</c:v>
                </c:pt>
                <c:pt idx="3">
                  <c:v>1.414214</c:v>
                </c:pt>
                <c:pt idx="4">
                  <c:v>1.414214</c:v>
                </c:pt>
                <c:pt idx="5">
                  <c:v>1.414214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加权成本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3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风险权重 w₂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5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385165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5F8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累计实际飞行距离 / km</c:v>
          </c:tx>
          <c:spPr>
            <a:ln xmlns:a="http://schemas.openxmlformats.org/drawingml/2006/main" w="28575">
              <a:solidFill>
                <a:srgbClr val="008F89"/>
              </a:solidFill>
            </a:ln>
          </c:spPr>
          <c:xVal>
            <c:numRef>
              <c:f>'Chart Data'!$A$2:$A$15</c:f>
              <c:numCache>
                <c:formatCode>General</c:formatCode>
                <c:ptCount val="14"/>
                <c:pt idx="0">
                  <c:v>1</c:v>
                </c:pt>
                <c:pt idx="1">
                  <c:v>36</c:v>
                </c:pt>
                <c:pt idx="2">
                  <c:v>71</c:v>
                </c:pt>
                <c:pt idx="3">
                  <c:v>106</c:v>
                </c:pt>
                <c:pt idx="4">
                  <c:v>141</c:v>
                </c:pt>
                <c:pt idx="5">
                  <c:v>176</c:v>
                </c:pt>
                <c:pt idx="6">
                  <c:v>211</c:v>
                </c:pt>
                <c:pt idx="7">
                  <c:v>246</c:v>
                </c:pt>
                <c:pt idx="8">
                  <c:v>281</c:v>
                </c:pt>
                <c:pt idx="9">
                  <c:v>316</c:v>
                </c:pt>
                <c:pt idx="10">
                  <c:v>351</c:v>
                </c:pt>
                <c:pt idx="11">
                  <c:v>386</c:v>
                </c:pt>
                <c:pt idx="12">
                  <c:v>421</c:v>
                </c:pt>
                <c:pt idx="13">
                  <c:v>436</c:v>
                </c:pt>
              </c:numCache>
            </c:numRef>
          </c:xVal>
          <c:yVal>
            <c:numRef>
              <c:f>'Chart Data'!$B$2:$B$15</c:f>
              <c:numCache>
                <c:formatCode>General</c:formatCode>
                <c:ptCount val="14"/>
                <c:pt idx="0">
                  <c:v>1.5</c:v>
                </c:pt>
                <c:pt idx="1">
                  <c:v>53.893</c:v>
                </c:pt>
                <c:pt idx="2">
                  <c:v>105.876</c:v>
                </c:pt>
                <c:pt idx="3">
                  <c:v>157.774</c:v>
                </c:pt>
                <c:pt idx="4">
                  <c:v>205.428</c:v>
                </c:pt>
                <c:pt idx="5">
                  <c:v>244.415</c:v>
                </c:pt>
                <c:pt idx="6">
                  <c:v>276.025</c:v>
                </c:pt>
                <c:pt idx="7">
                  <c:v>298.26</c:v>
                </c:pt>
                <c:pt idx="8">
                  <c:v>306.256</c:v>
                </c:pt>
                <c:pt idx="9">
                  <c:v>311.572</c:v>
                </c:pt>
                <c:pt idx="10">
                  <c:v>314.63</c:v>
                </c:pt>
                <c:pt idx="11">
                  <c:v>316.142</c:v>
                </c:pt>
                <c:pt idx="12">
                  <c:v>316.751</c:v>
                </c:pt>
                <c:pt idx="13">
                  <c:v>316.792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km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4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仿真时间 /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5F8FA"/>
        </a:solidFill>
      </c:spPr>
    </c:plotArea>
    <c:plotVisOnly val="1"/>
  </c:chart>
  <c:spPr>
    <a:solidFill xmlns:a="http://schemas.openxmlformats.org/drawingml/2006/main">
      <a:srgbClr val="F5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B1F8604F-4085-422E-AF77-B0C745D6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城市空中交通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规划创新方案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F5A49F6-8D0C-474B-8AC0-29348966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766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rPr>
              <a:t>天枢智航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0F9F7D7-3BB9-4BDA-B508-78774F6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91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rPr>
              <a:t>多项加权 A*、连续轨迹预测与规则协同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A831B40-3677-4BBA-9747-6AF0696D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24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rPr>
              <a:t>中国民用航空飞行学院  /  微笑^^调查队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BDB1BD3-449D-4275-A215-9BAD2A5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8BA9BA"/>
                </a:solidFill>
                <a:latin typeface="Noto Sans CJK SC"/>
                <a:ea typeface="Noto Sans CJK SC"/>
                <a:cs typeface="Noto Sans CJK SC"/>
              </a:rPr>
              <a:t>算法设计与仿真验证   2026.10</a:t>
            </a:r>
          </a:p>
        </p:txBody>
      </p:sp>
    </p:spTree>
    <p:extLst>
      <p:ext uri="{BB962C8B-B14F-4D97-AF65-F5344CB8AC3E}">
        <p14:creationId xmlns:p14="http://schemas.microsoft.com/office/powerpoint/2010/main" val="1662629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6">
            <a:extLst xmlns:a="http://schemas.openxmlformats.org/drawingml/2006/main">
              <a:ext uri="{FF2B5EF4-FFF2-40B4-BE49-F238E27FC236}">
                <a16:creationId xmlns:a16="http://schemas.microsoft.com/office/drawing/2014/main" id="{E923BB4A-299F-4626-B6B6-AE8FF412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城市空域规划的决策对象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10C13BE2-7B46-4FFC-B02F-00F2A41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02  天枢智航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CDFC5-0D47-4965-B1C7-BCE89225CD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75a13f15c40e4"/>
          <a:stretch xmlns:a="http://schemas.openxmlformats.org/drawingml/2006/main"/>
        </p:blipFill>
        <p:spPr>
          <a:xfrm xmlns:a="http://schemas.openxmlformats.org/drawingml/2006/main">
            <a:off x="5314950" y="1794272"/>
            <a:ext cx="6286500" cy="3536156"/>
          </a:xfrm>
          <a:prstGeom xmlns:a="http://schemas.openxmlformats.org/drawingml/2006/main" prst="rect">
            <a:avLst/>
          </a:prstGeom>
        </p:spPr>
      </p:pic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58B0199C-453D-4F30-A4FB-D89BCF1B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可飞空间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0692E8D7-52A9-4EA7-9A82-701B3E41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建筑、边界与临时禁入区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16CBE687-E5A4-48F3-9136-AE985C0B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运输组织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05E6A408-0983-466D-94C8-6CED8658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有向航路、换层节点与容量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EE1F2EBC-C52D-4CE9-8B08-8ABB6DB2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动态运行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987110C2-6D82-4A80-B67D-F5E96E7D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在飞任务、天气与应急备降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6A48A5B9-F1F5-4AC8-A3C7-B999D31F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规划对象是带约束的三维航路网络</a:t>
            </a:r>
          </a:p>
        </p:txBody>
      </p:sp>
    </p:spTree>
    <p:extLst>
      <p:ext uri="{BB962C8B-B14F-4D97-AF65-F5344CB8AC3E}">
        <p14:creationId xmlns:p14="http://schemas.microsoft.com/office/powerpoint/2010/main" val="1739226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E744BE63-0104-40D3-80E6-AF85DCC1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算法与仿真闭环</a:t>
            </a:r>
          </a:p>
        </p:txBody>
      </p:sp>
      <p:sp>
        <p:nvSpPr>
          <p:cNvPr id="2" name="text-16">
            <a:extLst xmlns:a="http://schemas.openxmlformats.org/drawingml/2006/main">
              <a:ext uri="{FF2B5EF4-FFF2-40B4-BE49-F238E27FC236}">
                <a16:creationId xmlns:a16="http://schemas.microsoft.com/office/drawing/2014/main" id="{CC0D4A58-BBE6-4FBF-B163-5D94805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03  天枢智航</a:t>
            </a:r>
          </a:p>
        </p:txBody>
      </p:sp>
      <p:sp>
        <p:nvSpPr>
          <p:cNvPr id="3" name="text-17">
            <a:extLst xmlns:a="http://schemas.openxmlformats.org/drawingml/2006/main">
              <a:ext uri="{FF2B5EF4-FFF2-40B4-BE49-F238E27FC236}">
                <a16:creationId xmlns:a16="http://schemas.microsoft.com/office/drawing/2014/main" id="{0CD1405A-785B-48DD-BEDF-BA2E5757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01  航路搜索</a:t>
            </a:r>
          </a:p>
        </p:txBody>
      </p:sp>
      <p:sp>
        <p:nvSpPr>
          <p:cNvPr id="4" name="text-18">
            <a:extLst xmlns:a="http://schemas.openxmlformats.org/drawingml/2006/main">
              <a:ext uri="{FF2B5EF4-FFF2-40B4-BE49-F238E27FC236}">
                <a16:creationId xmlns:a16="http://schemas.microsoft.com/office/drawing/2014/main" id="{C259E761-8ABF-48D2-BE3C-C544B3BB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硬约束过滤后，以五项加权代价执行 A*</a:t>
            </a:r>
          </a:p>
        </p:txBody>
      </p:sp>
      <p:sp>
        <p:nvSpPr>
          <p:cNvPr id="5" name="text-19">
            <a:extLst xmlns:a="http://schemas.openxmlformats.org/drawingml/2006/main">
              <a:ext uri="{FF2B5EF4-FFF2-40B4-BE49-F238E27FC236}">
                <a16:creationId xmlns:a16="http://schemas.microsoft.com/office/drawing/2014/main" id="{2B5064FB-B42E-492A-89D6-D476CB08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02  冲突预测</a:t>
            </a:r>
          </a:p>
        </p:txBody>
      </p:sp>
      <p:sp>
        <p:nvSpPr>
          <p:cNvPr id="6" name="text-20">
            <a:extLst xmlns:a="http://schemas.openxmlformats.org/drawingml/2006/main">
              <a:ext uri="{FF2B5EF4-FFF2-40B4-BE49-F238E27FC236}">
                <a16:creationId xmlns:a16="http://schemas.microsoft.com/office/drawing/2014/main" id="{CA87244B-F201-4167-9B4F-C063E06E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在未来 10 秒内求解分段线性轨迹的间隔不足区间</a:t>
            </a:r>
          </a:p>
        </p:txBody>
      </p:sp>
      <p:sp>
        <p:nvSpPr>
          <p:cNvPr id="7" name="text-21">
            <a:extLst xmlns:a="http://schemas.openxmlformats.org/drawingml/2006/main">
              <a:ext uri="{FF2B5EF4-FFF2-40B4-BE49-F238E27FC236}">
                <a16:creationId xmlns:a16="http://schemas.microsoft.com/office/drawing/2014/main" id="{EBD66620-FBEE-4AAA-A8B9-2AA68F25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03  协同处置</a:t>
            </a:r>
          </a:p>
        </p:txBody>
      </p:sp>
      <p:sp>
        <p:nvSpPr>
          <p:cNvPr id="8" name="text-22">
            <a:extLst xmlns:a="http://schemas.openxmlformats.org/drawingml/2006/main">
              <a:ext uri="{FF2B5EF4-FFF2-40B4-BE49-F238E27FC236}">
                <a16:creationId xmlns:a16="http://schemas.microsoft.com/office/drawing/2014/main" id="{B36F9F70-BAFE-495C-BE0F-45239F97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对候选解脱执行全机检查，选择安全且代价较低的方案</a:t>
            </a:r>
          </a:p>
        </p:txBody>
      </p:sp>
      <p:sp>
        <p:nvSpPr>
          <p:cNvPr id="9" name="text-23">
            <a:extLst xmlns:a="http://schemas.openxmlformats.org/drawingml/2006/main">
              <a:ext uri="{FF2B5EF4-FFF2-40B4-BE49-F238E27FC236}">
                <a16:creationId xmlns:a16="http://schemas.microsoft.com/office/drawing/2014/main" id="{A48CDC54-63C8-4A10-9645-CB967810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04  执行反馈</a:t>
            </a:r>
          </a:p>
        </p:txBody>
      </p:sp>
      <p:sp>
        <p:nvSpPr>
          <p:cNvPr id="10" name="text-24">
            <a:extLst xmlns:a="http://schemas.openxmlformats.org/drawingml/2006/main">
              <a:ext uri="{FF2B5EF4-FFF2-40B4-BE49-F238E27FC236}">
                <a16:creationId xmlns:a16="http://schemas.microsoft.com/office/drawing/2014/main" id="{E1479D1B-ACA7-4CAB-8269-736B2AF7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按真实航段逐步飞行，复检安全间距并记录事件结果</a:t>
            </a:r>
          </a:p>
        </p:txBody>
      </p:sp>
    </p:spTree>
    <p:extLst>
      <p:ext uri="{BB962C8B-B14F-4D97-AF65-F5344CB8AC3E}">
        <p14:creationId xmlns:p14="http://schemas.microsoft.com/office/powerpoint/2010/main" val="1775943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5">
            <a:extLst xmlns:a="http://schemas.openxmlformats.org/drawingml/2006/main">
              <a:ext uri="{FF2B5EF4-FFF2-40B4-BE49-F238E27FC236}">
                <a16:creationId xmlns:a16="http://schemas.microsoft.com/office/drawing/2014/main" id="{757FE478-46FE-4CD3-B101-A5C3F449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五项代价与硬约束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C0573272-CD35-41CA-8732-DB51805D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04  天枢智航</a:t>
            </a:r>
          </a:p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1013EFF0-4B07-4B10-A27E-277B0AB9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c(e) = w₁L + w₂Lr + w₃Lu + w₄(L + 4H) + w₅Lp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7FB68-62DB-4D9E-9FCA-8C38C44F0453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53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7524750"/>
                <a:gridCol w="1714500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成本项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默认权重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距离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L：航段三维长度 / 1000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风险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r：航段风险等级，范围 0–1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拥堵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u：当前流量 / 容量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能耗代理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 + 4H，H 为正爬升 / 1000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气象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p：逆风、横风、降水和能见度惩罚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AA2EA691-C6CD-4D92-B58D-0B8F23FA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建筑、雷暴、激活管制、关闭航段和满容量先剔除</a:t>
            </a:r>
          </a:p>
        </p:txBody>
      </p:sp>
    </p:spTree>
    <p:extLst>
      <p:ext uri="{BB962C8B-B14F-4D97-AF65-F5344CB8AC3E}">
        <p14:creationId xmlns:p14="http://schemas.microsoft.com/office/powerpoint/2010/main" val="99951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9">
            <a:extLst xmlns:a="http://schemas.openxmlformats.org/drawingml/2006/main">
              <a:ext uri="{FF2B5EF4-FFF2-40B4-BE49-F238E27FC236}">
                <a16:creationId xmlns:a16="http://schemas.microsoft.com/office/drawing/2014/main" id="{38407BE1-B51B-437B-BAD8-BA25E94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A* 搜索与最优性范围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1E9B101C-729F-4A99-BE2C-74B9B962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05  天枢智航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7D30B0E9-FD05-4678-A8FD-EDEF826A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f(n) = g(n) + h(n)</a:t>
            </a:r>
          </a:p>
        </p:txBody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430399F2-1673-4BEE-9F1B-5F5DD1AD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h(n) = w₁ · ||p(n) − p(goal)|| / 1000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86DE828B-052C-4F97-AD73-308557C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下界依据</a:t>
            </a:r>
          </a:p>
        </p:txBody>
      </p:sp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976C3F54-6E9B-40FA-BEC5-67D2C815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边长不小于两端点直线距离，其余成本均非负</a:t>
            </a:r>
          </a:p>
        </p:txBody>
      </p:sp>
      <p:sp>
        <p:nvSpPr>
          <p:cNvPr id="7" name="text-35">
            <a:extLst xmlns:a="http://schemas.openxmlformats.org/drawingml/2006/main">
              <a:ext uri="{FF2B5EF4-FFF2-40B4-BE49-F238E27FC236}">
                <a16:creationId xmlns:a16="http://schemas.microsoft.com/office/drawing/2014/main" id="{B6D31160-AC9E-482A-B911-264E6C51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快照最优</a:t>
            </a:r>
          </a:p>
        </p:txBody>
      </p:sp>
      <p:sp>
        <p:nvSpPr>
          <p:cNvPr id="8" name="text-36">
            <a:extLst xmlns:a="http://schemas.openxmlformats.org/drawingml/2006/main">
              <a:ext uri="{FF2B5EF4-FFF2-40B4-BE49-F238E27FC236}">
                <a16:creationId xmlns:a16="http://schemas.microsoft.com/office/drawing/2014/main" id="{55D07C94-393F-4924-8112-57787EC3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最优性限于本次可行图和设定权重</a:t>
            </a:r>
          </a:p>
        </p:txBody>
      </p:sp>
      <p:sp>
        <p:nvSpPr>
          <p:cNvPr id="9" name="text-37">
            <a:extLst xmlns:a="http://schemas.openxmlformats.org/drawingml/2006/main">
              <a:ext uri="{FF2B5EF4-FFF2-40B4-BE49-F238E27FC236}">
                <a16:creationId xmlns:a16="http://schemas.microsoft.com/office/drawing/2014/main" id="{89330E70-B26B-4C94-BCB8-6BED6296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航程超限回退</a:t>
            </a:r>
          </a:p>
        </p:txBody>
      </p:sp>
      <p:sp>
        <p:nvSpPr>
          <p:cNvPr id="10" name="text-38">
            <a:extLst xmlns:a="http://schemas.openxmlformats.org/drawingml/2006/main">
              <a:ext uri="{FF2B5EF4-FFF2-40B4-BE49-F238E27FC236}">
                <a16:creationId xmlns:a16="http://schemas.microsoft.com/office/drawing/2014/main" id="{34688080-7EDB-4FA1-ABE7-405925F1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改用最短距离 Dijkstra，返回明确的回退标识</a:t>
            </a:r>
          </a:p>
        </p:txBody>
      </p:sp>
    </p:spTree>
    <p:extLst>
      <p:ext uri="{BB962C8B-B14F-4D97-AF65-F5344CB8AC3E}">
        <p14:creationId xmlns:p14="http://schemas.microsoft.com/office/powerpoint/2010/main" val="8841655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9">
            <a:extLst xmlns:a="http://schemas.openxmlformats.org/drawingml/2006/main">
              <a:ext uri="{FF2B5EF4-FFF2-40B4-BE49-F238E27FC236}">
                <a16:creationId xmlns:a16="http://schemas.microsoft.com/office/drawing/2014/main" id="{C9F9B182-D3C5-4EFF-ACC0-6FA0A23E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权重如何改变选路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45DDCC96-5661-433E-A156-97DD3058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06  天枢智航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31BB58A-B2FE-41DA-9036-BD61CAD16CF3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67627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35b42b6d4743ba"/>
          </a:graphicData>
        </a:graphic>
      </p:graphicFrame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827640B7-8099-4416-BEFF-2E811F23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1.000 km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9155CFB4-08B1-4628-85A7-87AC922A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直达路线，风险等级 1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3AC1FC33-1201-4138-83BE-7E9A1B5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1.414 km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41E0A5CA-4776-45F4-910E-FAE2DCFF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290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绕行路线，风险等级 0</a:t>
            </a:r>
          </a:p>
        </p:txBody>
      </p:sp>
      <p:sp>
        <p:nvSpPr>
          <p:cNvPr id="8" name="text-45">
            <a:extLst xmlns:a="http://schemas.openxmlformats.org/drawingml/2006/main">
              <a:ext uri="{FF2B5EF4-FFF2-40B4-BE49-F238E27FC236}">
                <a16:creationId xmlns:a16="http://schemas.microsoft.com/office/drawing/2014/main" id="{0980763D-FE66-4C93-A69F-5FDB463B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切换点：w₂ &gt; 0.414</a:t>
            </a:r>
          </a:p>
        </p:txBody>
      </p:sp>
    </p:spTree>
    <p:extLst>
      <p:ext uri="{BB962C8B-B14F-4D97-AF65-F5344CB8AC3E}">
        <p14:creationId xmlns:p14="http://schemas.microsoft.com/office/powerpoint/2010/main" val="1956534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5910E3B2-90E0-456F-BBFC-B2A56A5E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连续时间冲突检测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049D01FB-F38C-46D7-ADFB-8DD1478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07  天枢智航</a:t>
            </a:r>
          </a:p>
        </p:txBody>
      </p:sp>
      <p:sp>
        <p:nvSpPr>
          <p:cNvPr id="3" name="text-48">
            <a:extLst xmlns:a="http://schemas.openxmlformats.org/drawingml/2006/main">
              <a:ext uri="{FF2B5EF4-FFF2-40B4-BE49-F238E27FC236}">
                <a16:creationId xmlns:a16="http://schemas.microsoft.com/office/drawing/2014/main" id="{E950B531-F96B-43DD-9DDF-1EA4745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r(τ) = r₀ + vᵣτ</a:t>
            </a:r>
          </a:p>
        </p:txBody>
      </p:sp>
      <p:sp>
        <p:nvSpPr>
          <p:cNvPr id="4" name="text-49">
            <a:extLst xmlns:a="http://schemas.openxmlformats.org/drawingml/2006/main">
              <a:ext uri="{FF2B5EF4-FFF2-40B4-BE49-F238E27FC236}">
                <a16:creationId xmlns:a16="http://schemas.microsoft.com/office/drawing/2014/main" id="{A8F7AC08-AD8C-4E0C-B08D-C7CB7CA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水平：  ||rₓᵧ(τ)||² ≤ Dₕ²</a:t>
            </a:r>
          </a:p>
        </p:txBody>
      </p:sp>
      <p:sp>
        <p:nvSpPr>
          <p:cNvPr id="5" name="text-50">
            <a:extLst xmlns:a="http://schemas.openxmlformats.org/drawingml/2006/main">
              <a:ext uri="{FF2B5EF4-FFF2-40B4-BE49-F238E27FC236}">
                <a16:creationId xmlns:a16="http://schemas.microsoft.com/office/drawing/2014/main" id="{79546AD6-1D26-4709-A4E4-43E63E6E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垂直：  |r𝓏(τ)| ≤ Dᵥ</a:t>
            </a:r>
          </a:p>
        </p:txBody>
      </p:sp>
      <p:sp>
        <p:nvSpPr>
          <p:cNvPr id="6" name="text-51">
            <a:extLst xmlns:a="http://schemas.openxmlformats.org/drawingml/2006/main">
              <a:ext uri="{FF2B5EF4-FFF2-40B4-BE49-F238E27FC236}">
                <a16:creationId xmlns:a16="http://schemas.microsoft.com/office/drawing/2014/main" id="{65F5F013-86ED-4A4B-9BBD-9A8EC6A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冲突区间 = 水平区间 ∩ 垂直区间 ∩ 时间重叠区间</a:t>
            </a:r>
          </a:p>
        </p:txBody>
      </p:sp>
      <p:sp>
        <p:nvSpPr>
          <p:cNvPr id="7" name="text-52">
            <a:extLst xmlns:a="http://schemas.openxmlformats.org/drawingml/2006/main">
              <a:ext uri="{FF2B5EF4-FFF2-40B4-BE49-F238E27FC236}">
                <a16:creationId xmlns:a16="http://schemas.microsoft.com/office/drawing/2014/main" id="{855568F6-AE95-4D87-843A-94D4977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默认：水平 30 m，垂直 15 m，预测窗 10 s</a:t>
            </a:r>
          </a:p>
        </p:txBody>
      </p:sp>
      <p:sp>
        <p:nvSpPr>
          <p:cNvPr id="8" name="text-53">
            <a:extLst xmlns:a="http://schemas.openxmlformats.org/drawingml/2006/main">
              <a:ext uri="{FF2B5EF4-FFF2-40B4-BE49-F238E27FC236}">
                <a16:creationId xmlns:a16="http://schemas.microsoft.com/office/drawing/2014/main" id="{21E8A105-AC3F-43BB-B579-156A52FE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精确性针对给定分段线性预测轨迹，依赖预测模型准确性</a:t>
            </a:r>
          </a:p>
        </p:txBody>
      </p:sp>
    </p:spTree>
    <p:extLst>
      <p:ext uri="{BB962C8B-B14F-4D97-AF65-F5344CB8AC3E}">
        <p14:creationId xmlns:p14="http://schemas.microsoft.com/office/powerpoint/2010/main" val="34700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9112FDEB-DA98-4FE4-A476-D0DEF46D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规则解脱先检查安全，再比较代价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91E4C36C-03C7-4C44-A47B-32F89F63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08  天枢智航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BD661-3336-496A-855F-CE70E8FDB873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77250"/>
              </a:tblGrid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候选动作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调速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原计划速度的 0.5 / 0.75 / 1.25 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延时让行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增加预测窗 + 2 s，默认 12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高度调整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上下 30 m，垂直速度上限 2 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局部绕航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禁用当前航段后重新规划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346DAB69-B8A4-4E0F-A91E-D7BF14A0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J = α · 延误 + β · 额外能耗代理 + γ · 拥堵</a:t>
            </a:r>
          </a:p>
        </p:txBody>
      </p:sp>
      <p:sp>
        <p:nvSpPr>
          <p:cNvPr id="5" name="text-57">
            <a:extLst xmlns:a="http://schemas.openxmlformats.org/drawingml/2006/main">
              <a:ext uri="{FF2B5EF4-FFF2-40B4-BE49-F238E27FC236}">
                <a16:creationId xmlns:a16="http://schemas.microsoft.com/office/drawing/2014/main" id="{FF045A6D-AD1A-4831-B731-83721F28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无可行解时告警并暂停，执行阶段逐步复检</a:t>
            </a:r>
          </a:p>
        </p:txBody>
      </p:sp>
    </p:spTree>
    <p:extLst>
      <p:ext uri="{BB962C8B-B14F-4D97-AF65-F5344CB8AC3E}">
        <p14:creationId xmlns:p14="http://schemas.microsoft.com/office/powerpoint/2010/main" val="162751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58">
            <a:extLst xmlns:a="http://schemas.openxmlformats.org/drawingml/2006/main">
              <a:ext uri="{FF2B5EF4-FFF2-40B4-BE49-F238E27FC236}">
                <a16:creationId xmlns:a16="http://schemas.microsoft.com/office/drawing/2014/main" id="{6CEABBA4-0CEE-456E-A9D5-3FCFFAC2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动态区域覆盖在飞机时的重规划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56BA6985-490A-42A3-A4FE-B1C83E4D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09  天枢智航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921E0-3612-409C-88A5-BF477B3E2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43769640f4aef"/>
          <a:stretch xmlns:a="http://schemas.openxmlformats.org/drawingml/2006/main"/>
        </p:blipFill>
        <p:spPr>
          <a:xfrm xmlns:a="http://schemas.openxmlformats.org/drawingml/2006/main">
            <a:off x="5048250" y="1675805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4" name="text-60">
            <a:extLst xmlns:a="http://schemas.openxmlformats.org/drawingml/2006/main">
              <a:ext uri="{FF2B5EF4-FFF2-40B4-BE49-F238E27FC236}">
                <a16:creationId xmlns:a16="http://schemas.microsoft.com/office/drawing/2014/main" id="{61267401-83E3-4986-B4BC-FCACBD12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区域外飞机</a:t>
            </a:r>
          </a:p>
        </p:txBody>
      </p:sp>
      <p:sp>
        <p:nvSpPr>
          <p:cNvPr id="5" name="text-61">
            <a:extLst xmlns:a="http://schemas.openxmlformats.org/drawingml/2006/main">
              <a:ext uri="{FF2B5EF4-FFF2-40B4-BE49-F238E27FC236}">
                <a16:creationId xmlns:a16="http://schemas.microsoft.com/office/drawing/2014/main" id="{B4C01182-17CE-4703-A9A2-729B5DF0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191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更新禁入约束并重新搜索</a:t>
            </a:r>
          </a:p>
        </p:txBody>
      </p:sp>
      <p:sp>
        <p:nvSpPr>
          <p:cNvPr id="6" name="text-62">
            <a:extLst xmlns:a="http://schemas.openxmlformats.org/drawingml/2006/main">
              <a:ext uri="{FF2B5EF4-FFF2-40B4-BE49-F238E27FC236}">
                <a16:creationId xmlns:a16="http://schemas.microsoft.com/office/drawing/2014/main" id="{E3D5C5A0-0EBE-4E04-8660-C4F2D94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区域内飞机</a:t>
            </a:r>
          </a:p>
        </p:txBody>
      </p:sp>
      <p:sp>
        <p:nvSpPr>
          <p:cNvPr id="7" name="text-63">
            <a:extLst xmlns:a="http://schemas.openxmlformats.org/drawingml/2006/main">
              <a:ext uri="{FF2B5EF4-FFF2-40B4-BE49-F238E27FC236}">
                <a16:creationId xmlns:a16="http://schemas.microsoft.com/office/drawing/2014/main" id="{0EF34488-3B34-4511-9AD3-A7E29E46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4191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从实际位置规划短撤离段</a:t>
            </a:r>
          </a:p>
        </p:txBody>
      </p:sp>
      <p:sp>
        <p:nvSpPr>
          <p:cNvPr id="8" name="text-64">
            <a:extLst xmlns:a="http://schemas.openxmlformats.org/drawingml/2006/main">
              <a:ext uri="{FF2B5EF4-FFF2-40B4-BE49-F238E27FC236}">
                <a16:creationId xmlns:a16="http://schemas.microsoft.com/office/drawing/2014/main" id="{B7DAAD1B-D40B-4828-83CE-2F74021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任务接续</a:t>
            </a:r>
          </a:p>
        </p:txBody>
      </p:sp>
      <p:sp>
        <p:nvSpPr>
          <p:cNvPr id="9" name="text-65">
            <a:extLst xmlns:a="http://schemas.openxmlformats.org/drawingml/2006/main">
              <a:ext uri="{FF2B5EF4-FFF2-40B4-BE49-F238E27FC236}">
                <a16:creationId xmlns:a16="http://schemas.microsoft.com/office/drawing/2014/main" id="{64064107-64F6-4BF1-ADBA-561771E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191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安全出口后接续任务或等待</a:t>
            </a:r>
          </a:p>
        </p:txBody>
      </p:sp>
      <p:sp>
        <p:nvSpPr>
          <p:cNvPr id="10" name="text-66">
            <a:extLst xmlns:a="http://schemas.openxmlformats.org/drawingml/2006/main">
              <a:ext uri="{FF2B5EF4-FFF2-40B4-BE49-F238E27FC236}">
                <a16:creationId xmlns:a16="http://schemas.microsoft.com/office/drawing/2014/main" id="{024FAC28-44A5-4BD3-90DD-D0439768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同一位置接续计划，保留事件前后路线</a:t>
            </a:r>
          </a:p>
        </p:txBody>
      </p:sp>
    </p:spTree>
    <p:extLst>
      <p:ext uri="{BB962C8B-B14F-4D97-AF65-F5344CB8AC3E}">
        <p14:creationId xmlns:p14="http://schemas.microsoft.com/office/powerpoint/2010/main" val="1563578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7">
            <a:extLst xmlns:a="http://schemas.openxmlformats.org/drawingml/2006/main">
              <a:ext uri="{FF2B5EF4-FFF2-40B4-BE49-F238E27FC236}">
                <a16:creationId xmlns:a16="http://schemas.microsoft.com/office/drawing/2014/main" id="{3D78A1FB-52F2-451B-9052-D8F15D00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故障备降的可达性与场地约束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4F46FC74-C163-44FE-B9C8-4CC54BD7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10  天枢智航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F55DD-B454-4910-84CA-B578DEBA64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3817ff4094f56"/>
          <a:stretch xmlns:a="http://schemas.openxmlformats.org/drawingml/2006/main"/>
        </p:blipFill>
        <p:spPr>
          <a:xfrm xmlns:a="http://schemas.openxmlformats.org/drawingml/2006/main">
            <a:off x="5086350" y="1666280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B53AA205-AD23-4FA4-8ECB-5D2F5A6D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R = b · Rmax · η</a:t>
            </a:r>
          </a:p>
        </p:txBody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352037D6-BADD-4253-B136-25E17E8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可达与容量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B7498498-EE01-4E57-BE73-2C97C0A4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4238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检查航程、合法路径及泊位预留</a:t>
            </a:r>
          </a:p>
        </p:txBody>
      </p:sp>
      <p:sp>
        <p:nvSpPr>
          <p:cNvPr id="7" name="text-72">
            <a:extLst xmlns:a="http://schemas.openxmlformats.org/drawingml/2006/main">
              <a:ext uri="{FF2B5EF4-FFF2-40B4-BE49-F238E27FC236}">
                <a16:creationId xmlns:a16="http://schemas.microsoft.com/office/drawing/2014/main" id="{BAD1FEE5-2290-44A7-96FF-5D5D08B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独立备降场坪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3BFEC74B-63BE-4695-B02F-BCEB2544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238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80 × 80 m，距道路外缘至少 12 m</a:t>
            </a:r>
          </a:p>
        </p:txBody>
      </p:sp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E70DC34F-CFA5-4FEF-ACA1-EE72544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执行结果</a:t>
            </a:r>
          </a:p>
        </p:txBody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AE402020-D6D4-465C-90E3-991E2806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4238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UAV-021 在 EB-4 完成降落</a:t>
            </a:r>
          </a:p>
        </p:txBody>
      </p:sp>
      <p:sp>
        <p:nvSpPr>
          <p:cNvPr id="11" name="text-76">
            <a:extLst xmlns:a="http://schemas.openxmlformats.org/drawingml/2006/main">
              <a:ext uri="{FF2B5EF4-FFF2-40B4-BE49-F238E27FC236}">
                <a16:creationId xmlns:a16="http://schemas.microsoft.com/office/drawing/2014/main" id="{AC78685F-7BAE-4A7C-A465-83DE0549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场坪尺寸与故障折减为本演示参数</a:t>
            </a:r>
          </a:p>
        </p:txBody>
      </p:sp>
    </p:spTree>
    <p:extLst>
      <p:ext uri="{BB962C8B-B14F-4D97-AF65-F5344CB8AC3E}">
        <p14:creationId xmlns:p14="http://schemas.microsoft.com/office/powerpoint/2010/main" val="2006836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7">
            <a:extLst xmlns:a="http://schemas.openxmlformats.org/drawingml/2006/main">
              <a:ext uri="{FF2B5EF4-FFF2-40B4-BE49-F238E27FC236}">
                <a16:creationId xmlns:a16="http://schemas.microsoft.com/office/drawing/2014/main" id="{35BD8299-FA72-4C22-BBA8-400DB019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演示一  雷暴覆盖与安全撤离</a:t>
            </a:r>
          </a:p>
        </p:txBody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A1B1D1DE-D1B1-43AA-9857-D2DFCA8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rPr>
              <a:t>11  天枢智航</a:t>
            </a:r>
          </a:p>
        </p:txBody>
      </p:sp>
      <p:pic>
        <p:nvPicPr>
          <p:cNvPr id="3" name="VIDEO_weather" descr="真实程序录屏：weather，点击播放，H.264 MP4 嵌入媒体">
            <ns0:hlinkClick xmlns:ns0="http://schemas.openxmlformats.org/drawingml/2006/main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3C881DFB-9284-4064-BE29-3CD1C1DC265B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EmbeddedVideo"/>
            <p:extLst>
              <p:ext uri="{DAA4B4D4-6D71-4841-9C94-3DE7FCFB55F6}">
                <p14:media xmlns:p14="http://schemas.microsoft.com/office/powerpoint/2010/main" xmlns:ns2="http://schemas.openxmlformats.org/officeDocument/2006/relationships" ns2:embed="rIdEmbedded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e13e3a4f0831484f"/>
          <a:stretch xmlns:a="http://schemas.openxmlformats.org/drawingml/2006/main"/>
        </p:blipFill>
        <p:spPr>
          <a:xfrm xmlns:a="http://schemas.openxmlformats.org/drawingml/2006/main">
            <a:off x="1794933" y="1162050"/>
            <a:ext cx="8602133" cy="4838700"/>
          </a:xfrm>
          <a:prstGeom xmlns:a="http://schemas.openxmlformats.org/drawingml/2006/main" prst="rect">
            <a:avLst/>
          </a:prstGeom>
        </p:spPr>
      </p:pic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DB3E9A64-CA9E-4B83-8663-8D876F3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rPr>
              <a:t>25 s 触发，6 架改航，其中 2 架从区域内撤离    点击画面播放</a:t>
            </a:r>
          </a:p>
        </p:txBody>
      </p:sp>
    </p:spTree>
    <p:extLst>
      <p:ext uri="{BB962C8B-B14F-4D97-AF65-F5344CB8AC3E}">
        <p14:creationId xmlns:p14="http://schemas.microsoft.com/office/powerpoint/2010/main" val="422829415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DB3BA920-41B4-4602-BFEC-61547AF6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演示二  交汇冲突与延时让行</a:t>
            </a:r>
          </a:p>
        </p:txBody>
      </p:sp>
      <p:sp>
        <p:nvSpPr>
          <p:cNvPr id="2" name="text-81">
            <a:extLst xmlns:a="http://schemas.openxmlformats.org/drawingml/2006/main">
              <a:ext uri="{FF2B5EF4-FFF2-40B4-BE49-F238E27FC236}">
                <a16:creationId xmlns:a16="http://schemas.microsoft.com/office/drawing/2014/main" id="{D6B36E66-B5C5-4057-8ECD-7BFC17A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rPr>
              <a:t>12  天枢智航</a:t>
            </a:r>
          </a:p>
        </p:txBody>
      </p:sp>
      <p:pic>
        <p:nvPicPr>
          <p:cNvPr id="3" name="VIDEO_conflict" descr="真实程序录屏：conflict，点击播放，H.264 MP4 嵌入媒体">
            <ns0:hlinkClick xmlns:ns0="http://schemas.openxmlformats.org/drawingml/2006/main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0DCFD272-D949-452D-8332-5F854AD64A05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EmbeddedVideo"/>
            <p:extLst>
              <p:ext uri="{DAA4B4D4-6D71-4841-9C94-3DE7FCFB55F6}">
                <p14:media xmlns:p14="http://schemas.microsoft.com/office/powerpoint/2010/main" xmlns:ns2="http://schemas.openxmlformats.org/officeDocument/2006/relationships" ns2:embed="rIdEmbedded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eee2a73bde0f47e7"/>
          <a:stretch xmlns:a="http://schemas.openxmlformats.org/drawingml/2006/main"/>
        </p:blipFill>
        <p:spPr>
          <a:xfrm xmlns:a="http://schemas.openxmlformats.org/drawingml/2006/main">
            <a:off x="1794933" y="1162050"/>
            <a:ext cx="8602133" cy="4838700"/>
          </a:xfrm>
          <a:prstGeom xmlns:a="http://schemas.openxmlformats.org/drawingml/2006/main" prst="rect">
            <a:avLst/>
          </a:prstGeom>
        </p:spPr>
      </p:pic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CE5DC586-6D8F-4BFE-BAF7-FCD0779C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rPr>
              <a:t>40 s 触发，预测交汇后选择安全解脱    点击画面播放</a:t>
            </a:r>
          </a:p>
        </p:txBody>
      </p:sp>
    </p:spTree>
    <p:extLst>
      <p:ext uri="{BB962C8B-B14F-4D97-AF65-F5344CB8AC3E}">
        <p14:creationId xmlns:p14="http://schemas.microsoft.com/office/powerpoint/2010/main" val="1272621898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640C2DCB-A529-4623-98B4-75D42617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演示三  终点切换与真实备降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9F964861-DC87-4E27-81A8-0AD6D888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rPr>
              <a:t>13  天枢智航</a:t>
            </a:r>
          </a:p>
        </p:txBody>
      </p:sp>
      <p:pic>
        <p:nvPicPr>
          <p:cNvPr id="3" name="VIDEO_failure" descr="真实程序录屏：failure，点击播放，H.264 MP4 嵌入媒体">
            <ns0:hlinkClick xmlns:ns0="http://schemas.openxmlformats.org/drawingml/2006/main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506B84D6-5A0D-4CD5-83DD-A7E83566BE01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EmbeddedVideo"/>
            <p:extLst>
              <p:ext uri="{DAA4B4D4-6D71-4841-9C94-3DE7FCFB55F6}">
                <p14:media xmlns:p14="http://schemas.microsoft.com/office/powerpoint/2010/main" xmlns:ns2="http://schemas.openxmlformats.org/officeDocument/2006/relationships" ns2:embed="rIdEmbedded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07fe21479b3b4b82"/>
          <a:stretch xmlns:a="http://schemas.openxmlformats.org/drawingml/2006/main"/>
        </p:blipFill>
        <p:spPr>
          <a:xfrm xmlns:a="http://schemas.openxmlformats.org/drawingml/2006/main">
            <a:off x="1794933" y="1162050"/>
            <a:ext cx="8602133" cy="4838700"/>
          </a:xfrm>
          <a:prstGeom xmlns:a="http://schemas.openxmlformats.org/drawingml/2006/main" prst="rect">
            <a:avLst/>
          </a:prstGeom>
        </p:spPr>
      </p:pic>
      <p:sp>
        <p:nvSpPr>
          <p:cNvPr id="4" name="text-85">
            <a:extLst xmlns:a="http://schemas.openxmlformats.org/drawingml/2006/main">
              <a:ext uri="{FF2B5EF4-FFF2-40B4-BE49-F238E27FC236}">
                <a16:creationId xmlns:a16="http://schemas.microsoft.com/office/drawing/2014/main" id="{465E8986-A7A1-408E-B6ED-75AEEAFD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C4DCE6"/>
                </a:solidFill>
                <a:latin typeface="Noto Sans CJK SC"/>
                <a:ea typeface="Noto Sans CJK SC"/>
                <a:cs typeface="Noto Sans CJK SC"/>
              </a:rPr>
              <a:t>40 s 故障，124 s 实际触地，154 s 场景结束    点击画面播放</a:t>
            </a:r>
          </a:p>
        </p:txBody>
      </p:sp>
    </p:spTree>
    <p:extLst>
      <p:ext uri="{BB962C8B-B14F-4D97-AF65-F5344CB8AC3E}">
        <p14:creationId xmlns:p14="http://schemas.microsoft.com/office/powerpoint/2010/main" val="1288625979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86">
            <a:extLst xmlns:a="http://schemas.openxmlformats.org/drawingml/2006/main">
              <a:ext uri="{FF2B5EF4-FFF2-40B4-BE49-F238E27FC236}">
                <a16:creationId xmlns:a16="http://schemas.microsoft.com/office/drawing/2014/main" id="{0852ADF4-7E54-406D-B557-424392BA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100 机完整场景的运行结果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1FAF6671-7C9E-4B44-BBA5-DDB14CAC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14  天枢智航</a:t>
            </a: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04966DA0-377E-418B-8212-568F1BC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99</a:t>
            </a:r>
          </a:p>
        </p:txBody>
      </p:sp>
      <p:sp>
        <p:nvSpPr>
          <p:cNvPr id="4" name="text-89">
            <a:extLst xmlns:a="http://schemas.openxmlformats.org/drawingml/2006/main">
              <a:ext uri="{FF2B5EF4-FFF2-40B4-BE49-F238E27FC236}">
                <a16:creationId xmlns:a16="http://schemas.microsoft.com/office/drawing/2014/main" id="{59241A60-B0AB-4726-8253-1C614F18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原目的地完成</a:t>
            </a:r>
          </a:p>
        </p:txBody>
      </p:sp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238B7B42-5C77-46CA-B500-E40C36DE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476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8818032D-2551-470F-BDAB-27676EDC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622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完成备降</a:t>
            </a:r>
          </a:p>
        </p:txBody>
      </p:sp>
      <p:sp>
        <p:nvSpPr>
          <p:cNvPr id="7" name="text-92">
            <a:extLst xmlns:a="http://schemas.openxmlformats.org/drawingml/2006/main">
              <a:ext uri="{FF2B5EF4-FFF2-40B4-BE49-F238E27FC236}">
                <a16:creationId xmlns:a16="http://schemas.microsoft.com/office/drawing/2014/main" id="{BD6B435A-378F-4C85-A5EB-B7DD879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76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8" name="text-93">
            <a:extLst xmlns:a="http://schemas.openxmlformats.org/drawingml/2006/main">
              <a:ext uri="{FF2B5EF4-FFF2-40B4-BE49-F238E27FC236}">
                <a16:creationId xmlns:a16="http://schemas.microsoft.com/office/drawing/2014/main" id="{0D025165-2A3D-4541-8018-782A197A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最终剩余冲突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F6B1E72-DFF0-4DF4-85E2-7DB630F2810A}"/>
              </a:ext>
            </a:extLst>
          </p:cNvPr>
          <p:cNvGraphicFramePr/>
          <p:nvPr/>
        </p:nvGraphicFramePr>
        <p:xfrm>
          <a:off xmlns:a="http://schemas.openxmlformats.org/drawingml/2006/main" x="609600" y="3133725"/>
          <a:ext xmlns:a="http://schemas.openxmlformats.org/drawingml/2006/main" cx="7620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0c1a88902b4ef5"/>
          </a:graphicData>
        </a:graphic>
      </p:graphicFrame>
      <p:sp>
        <p:nvSpPr>
          <p:cNvPr id="10" name="text-94">
            <a:extLst xmlns:a="http://schemas.openxmlformats.org/drawingml/2006/main">
              <a:ext uri="{FF2B5EF4-FFF2-40B4-BE49-F238E27FC236}">
                <a16:creationId xmlns:a16="http://schemas.microsoft.com/office/drawing/2014/main" id="{9446681C-C58E-4214-9C7F-FF488ACA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436 s</a:t>
            </a:r>
          </a:p>
        </p:txBody>
      </p:sp>
      <p:sp>
        <p:nvSpPr>
          <p:cNvPr id="11" name="text-95">
            <a:extLst xmlns:a="http://schemas.openxmlformats.org/drawingml/2006/main">
              <a:ext uri="{FF2B5EF4-FFF2-40B4-BE49-F238E27FC236}">
                <a16:creationId xmlns:a16="http://schemas.microsoft.com/office/drawing/2014/main" id="{3E327241-2274-41A8-AAA6-D119EDD3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仿真停止时刻</a:t>
            </a:r>
          </a:p>
        </p:txBody>
      </p:sp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F4611BA0-44C3-41CB-B4BE-30AC7F7F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9.12 s</a:t>
            </a:r>
          </a:p>
        </p:txBody>
      </p:sp>
      <p:sp>
        <p:nvSpPr>
          <p:cNvPr id="13" name="text-97">
            <a:extLst xmlns:a="http://schemas.openxmlformats.org/drawingml/2006/main">
              <a:ext uri="{FF2B5EF4-FFF2-40B4-BE49-F238E27FC236}">
                <a16:creationId xmlns:a16="http://schemas.microsoft.com/office/drawing/2014/main" id="{468A1AAB-6E9C-41A4-9502-EACB5F9D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34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平均延误</a:t>
            </a:r>
          </a:p>
        </p:txBody>
      </p:sp>
      <p:sp>
        <p:nvSpPr>
          <p:cNvPr id="14" name="text-98">
            <a:extLst xmlns:a="http://schemas.openxmlformats.org/drawingml/2006/main">
              <a:ext uri="{FF2B5EF4-FFF2-40B4-BE49-F238E27FC236}">
                <a16:creationId xmlns:a16="http://schemas.microsoft.com/office/drawing/2014/main" id="{D70C30BE-0D06-4C63-A087-4291E5C5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seed = 42，单次仿真结果，未设置性能对照基线</a:t>
            </a:r>
          </a:p>
        </p:txBody>
      </p:sp>
    </p:spTree>
    <p:extLst>
      <p:ext uri="{BB962C8B-B14F-4D97-AF65-F5344CB8AC3E}">
        <p14:creationId xmlns:p14="http://schemas.microsoft.com/office/powerpoint/2010/main" val="13498328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9">
            <a:extLst xmlns:a="http://schemas.openxmlformats.org/drawingml/2006/main">
              <a:ext uri="{FF2B5EF4-FFF2-40B4-BE49-F238E27FC236}">
                <a16:creationId xmlns:a16="http://schemas.microsoft.com/office/drawing/2014/main" id="{6658DCA8-9D8A-4ACB-92F7-0F06D9B2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五个单项场景的验证结果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A5F41997-17EA-4B8A-A87A-66A0D02C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15  天枢智航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617F6-C923-432E-A3C2-B90DF720A985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537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857500"/>
                <a:gridCol w="5905500"/>
              </a:tblGrid>
              <a:tr h="595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注入 / 停止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实际结果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T w="9525">
                      <a:solidFill>
                        <a:srgbClr val="D5E0E6"/>
                      </a:solidFill>
                      <a:prstDash val="solid"/>
                    </a:lnT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112C4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拥堵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/ 90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架受影响并完成改航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雷暴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 / 105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 架改航，2 架区内撤离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临时管制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 / 105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 架改航，2 架区内撤离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故障备降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 / 154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124 s 触地，目的地 EB-4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两机冲突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6"/>
                      </a:solidFill>
                      <a:prstDash val="solid"/>
                    </a:lnL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 / 70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延时让行，累计解脱 1 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6"/>
                      </a:solidFill>
                      <a:prstDash val="solid"/>
                    </a:lnR>
                    <a:lnB w="9525">
                      <a:solidFill>
                        <a:srgbClr val="D5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01">
            <a:extLst xmlns:a="http://schemas.openxmlformats.org/drawingml/2006/main">
              <a:ext uri="{FF2B5EF4-FFF2-40B4-BE49-F238E27FC236}">
                <a16:creationId xmlns:a16="http://schemas.microsoft.com/office/drawing/2014/main" id="{DDAA5A93-DF37-48AD-B152-5EEFDC69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8F89"/>
                </a:solidFill>
                <a:latin typeface="Noto Sans CJK SC"/>
                <a:ea typeface="Noto Sans CJK SC"/>
                <a:cs typeface="Noto Sans CJK SC"/>
              </a:rPr>
              <a:t>每个场景 24 架，seed = 42，结束时剩余冲突均为 0</a:t>
            </a:r>
          </a:p>
        </p:txBody>
      </p:sp>
    </p:spTree>
    <p:extLst>
      <p:ext uri="{BB962C8B-B14F-4D97-AF65-F5344CB8AC3E}">
        <p14:creationId xmlns:p14="http://schemas.microsoft.com/office/powerpoint/2010/main" val="3141330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02">
            <a:extLst xmlns:a="http://schemas.openxmlformats.org/drawingml/2006/main">
              <a:ext uri="{FF2B5EF4-FFF2-40B4-BE49-F238E27FC236}">
                <a16:creationId xmlns:a16="http://schemas.microsoft.com/office/drawing/2014/main" id="{413642ED-B66F-456B-ACDA-FA61CB9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创新贡献与验证边界</a:t>
            </a:r>
          </a:p>
        </p:txBody>
      </p:sp>
      <p:sp>
        <p:nvSpPr>
          <p:cNvPr id="2" name="text-103">
            <a:extLst xmlns:a="http://schemas.openxmlformats.org/drawingml/2006/main">
              <a:ext uri="{FF2B5EF4-FFF2-40B4-BE49-F238E27FC236}">
                <a16:creationId xmlns:a16="http://schemas.microsoft.com/office/drawing/2014/main" id="{EB7F833C-46EE-4A7A-B330-D3029878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16  天枢智航</a:t>
            </a:r>
          </a:p>
        </p:txBody>
      </p:sp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AE33B7DA-85D0-4F89-B501-9FFE59D6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统一的约束与解释</a:t>
            </a: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B21C1AE3-AF37-4109-BDE7-ECFFCA9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规划输出分项代价，处置保留前后计划与实际轨迹</a:t>
            </a: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F5CC8DB7-B6BF-46D3-8633-E833FBB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连续的动态处置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57D16730-D1C5-4CF5-8A9F-B730F211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区域内撤离、全机解脱检查与真实备降共享运行状态</a:t>
            </a:r>
          </a:p>
        </p:txBody>
      </p:sp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17CBA6F4-2A08-42E6-875F-F89ACFA1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可复现的证据</a:t>
            </a:r>
          </a:p>
        </p:txBody>
      </p:sp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34F361B8-FE7E-4C79-ACD3-E55B37C5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300 次 A* / Dijkstra 代价对照，误差 &lt; 4 × 10⁻¹⁵</a:t>
            </a:r>
          </a:p>
        </p:txBody>
      </p:sp>
      <p:sp>
        <p:nvSpPr>
          <p:cNvPr id="9" name="text-110">
            <a:extLst xmlns:a="http://schemas.openxmlformats.org/drawingml/2006/main">
              <a:ext uri="{FF2B5EF4-FFF2-40B4-BE49-F238E27FC236}">
                <a16:creationId xmlns:a16="http://schemas.microsoft.com/office/drawing/2014/main" id="{FAADA444-33E9-4D1E-83E1-4BFFF790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56A16"/>
                </a:solidFill>
                <a:latin typeface="Noto Sans CJK SC"/>
                <a:ea typeface="Noto Sans CJK SC"/>
                <a:cs typeface="Noto Sans CJK SC"/>
              </a:rPr>
              <a:t>当前局限：代理能耗、确定性天气、有限预测窗、单实例仿真</a:t>
            </a:r>
          </a:p>
        </p:txBody>
      </p:sp>
    </p:spTree>
    <p:extLst>
      <p:ext uri="{BB962C8B-B14F-4D97-AF65-F5344CB8AC3E}">
        <p14:creationId xmlns:p14="http://schemas.microsoft.com/office/powerpoint/2010/main" val="7090839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11">
            <a:extLst xmlns:a="http://schemas.openxmlformats.org/drawingml/2006/main">
              <a:ext uri="{FF2B5EF4-FFF2-40B4-BE49-F238E27FC236}">
                <a16:creationId xmlns:a16="http://schemas.microsoft.com/office/drawing/2014/main" id="{0783A817-B800-4617-962A-2820F894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城市应用与后续验证路径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E964180F-8EF6-49EA-A6EE-F431E391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17889"/>
                </a:solidFill>
                <a:latin typeface="Noto Sans CJK SC"/>
                <a:ea typeface="Noto Sans CJK SC"/>
                <a:cs typeface="Noto Sans CJK SC"/>
              </a:rPr>
              <a:t>17  天枢智航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85926C22-2D46-4C4A-8FC3-BA6A3C6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当前用途：规划与推演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AAD3938E-30F2-4627-8913-CFC2598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调整航路容量、风险权重和区域约束，观察任务处置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CEABAF82-5A44-45AB-BBF6-A7871DC8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下一阶段：真实城市数据校准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71077B28-7CB8-40FA-A427-151B663A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接入建筑与气象数据，校准机型能耗和航程模型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F0F1DDFC-597B-4FC6-A66A-A2A36123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验证扩展：多种子与对照实验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3C776035-48D0-48B7-9F29-433EAE47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比较距离基线、加权策略及候选集，报告分位数与失败案例</a:t>
            </a: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3368BD8D-2F9E-470E-84E0-ABDF3967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12C43"/>
                </a:solidFill>
                <a:latin typeface="Noto Sans CJK SC"/>
                <a:ea typeface="Noto Sans CJK SC"/>
                <a:cs typeface="Noto Sans CJK SC"/>
              </a:rPr>
              <a:t>工程扩展：场景所有者与调度</a:t>
            </a:r>
          </a:p>
        </p:txBody>
      </p:sp>
      <p:sp>
        <p:nvSpPr>
          <p:cNvPr id="10" name="text-120">
            <a:extLst xmlns:a="http://schemas.openxmlformats.org/drawingml/2006/main">
              <a:ext uri="{FF2B5EF4-FFF2-40B4-BE49-F238E27FC236}">
                <a16:creationId xmlns:a16="http://schemas.microsoft.com/office/drawing/2014/main" id="{4E154C3E-A60D-4F36-971C-7699890C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85165"/>
                </a:solidFill>
                <a:latin typeface="Noto Sans CJK SC"/>
                <a:ea typeface="Noto Sans CJK SC"/>
                <a:cs typeface="Noto Sans CJK SC"/>
              </a:rPr>
              <a:t>在扩容前明确状态归属，验证密集机群的计算和通信负载</a:t>
            </a:r>
          </a:p>
        </p:txBody>
      </p:sp>
    </p:spTree>
    <p:extLst>
      <p:ext uri="{BB962C8B-B14F-4D97-AF65-F5344CB8AC3E}">
        <p14:creationId xmlns:p14="http://schemas.microsoft.com/office/powerpoint/2010/main" val="7202950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1">
            <a:extLst xmlns:a="http://schemas.openxmlformats.org/drawingml/2006/main">
              <a:ext uri="{FF2B5EF4-FFF2-40B4-BE49-F238E27FC236}">
                <a16:creationId xmlns:a16="http://schemas.microsoft.com/office/drawing/2014/main" id="{26C0E57C-B01B-4829-801D-2C71FDF4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算法贡献与答辩讨论</a:t>
            </a:r>
          </a:p>
        </p:txBody>
      </p:sp>
      <p:sp>
        <p:nvSpPr>
          <p:cNvPr id="2" name="text-122">
            <a:extLst xmlns:a="http://schemas.openxmlformats.org/drawingml/2006/main">
              <a:ext uri="{FF2B5EF4-FFF2-40B4-BE49-F238E27FC236}">
                <a16:creationId xmlns:a16="http://schemas.microsoft.com/office/drawing/2014/main" id="{2880CEB1-5683-47AB-80B4-351A5693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19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A5C5D6"/>
                </a:solidFill>
                <a:latin typeface="Noto Sans CJK SC"/>
                <a:ea typeface="Noto Sans CJK SC"/>
                <a:cs typeface="Noto Sans CJK SC"/>
              </a:rPr>
              <a:t>18  天枢智航</a:t>
            </a:r>
          </a:p>
        </p:txBody>
      </p:sp>
      <p:sp>
        <p:nvSpPr>
          <p:cNvPr id="3" name="text-123">
            <a:extLst xmlns:a="http://schemas.openxmlformats.org/drawingml/2006/main">
              <a:ext uri="{FF2B5EF4-FFF2-40B4-BE49-F238E27FC236}">
                <a16:creationId xmlns:a16="http://schemas.microsoft.com/office/drawing/2014/main" id="{1671DAAB-85B6-4E37-870A-EF7CD97B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65E6D0"/>
                </a:solidFill>
                <a:latin typeface="Noto Sans CJK SC"/>
                <a:ea typeface="Noto Sans CJK SC"/>
                <a:cs typeface="Noto Sans CJK SC"/>
              </a:rPr>
              <a:t>可解释的路线选择</a:t>
            </a:r>
          </a:p>
        </p:txBody>
      </p:sp>
      <p:sp>
        <p:nvSpPr>
          <p:cNvPr id="4" name="text-124">
            <a:extLst xmlns:a="http://schemas.openxmlformats.org/drawingml/2006/main">
              <a:ext uri="{FF2B5EF4-FFF2-40B4-BE49-F238E27FC236}">
                <a16:creationId xmlns:a16="http://schemas.microsoft.com/office/drawing/2014/main" id="{3A312774-3776-497B-AEA1-E1BE47D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连续时间的冲突预测</a:t>
            </a:r>
          </a:p>
        </p:txBody>
      </p:sp>
      <p:sp>
        <p:nvSpPr>
          <p:cNvPr id="5" name="text-125">
            <a:extLst xmlns:a="http://schemas.openxmlformats.org/drawingml/2006/main">
              <a:ext uri="{FF2B5EF4-FFF2-40B4-BE49-F238E27FC236}">
                <a16:creationId xmlns:a16="http://schemas.microsoft.com/office/drawing/2014/main" id="{E6EDA0FF-1FB9-4A37-82E3-7029D253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可回放的动态处置证据</a:t>
            </a:r>
          </a:p>
        </p:txBody>
      </p:sp>
      <p:sp>
        <p:nvSpPr>
          <p:cNvPr id="6" name="text-126">
            <a:extLst xmlns:a="http://schemas.openxmlformats.org/drawingml/2006/main">
              <a:ext uri="{FF2B5EF4-FFF2-40B4-BE49-F238E27FC236}">
                <a16:creationId xmlns:a16="http://schemas.microsoft.com/office/drawing/2014/main" id="{AFC21B92-FB35-49E6-A0CE-98C605B2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BCD4E0"/>
                </a:solidFill>
                <a:latin typeface="Noto Sans CJK SC"/>
                <a:ea typeface="Noto Sans CJK SC"/>
                <a:cs typeface="Noto Sans CJK SC"/>
              </a:rPr>
              <a:t>谢谢，欢迎提问</a:t>
            </a:r>
          </a:p>
        </p:txBody>
      </p:sp>
    </p:spTree>
    <p:extLst>
      <p:ext uri="{BB962C8B-B14F-4D97-AF65-F5344CB8AC3E}">
        <p14:creationId xmlns:p14="http://schemas.microsoft.com/office/powerpoint/2010/main" val="2132835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2026-10-20T14:56:54.0010000Z</dcterms:created>
  <dcterms:modified xsi:type="dcterms:W3CDTF">2026-10-20T14:56:54.0010000Z</dcterms:modified>
</coreProperties>
</file>